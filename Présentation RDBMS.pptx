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08EB90-8E8B-45A7-BA2C-E1B37F0E673F}" v="126" dt="2022-02-14T18:40:06.274"/>
    <p1510:client id="{B6A8094F-64EF-4ABD-AE7E-21C7291512DD}" v="10" dt="2022-02-14T18:42:20.3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4" autoAdjust="0"/>
    <p:restoredTop sz="94989" autoAdjust="0"/>
  </p:normalViewPr>
  <p:slideViewPr>
    <p:cSldViewPr snapToGrid="0">
      <p:cViewPr varScale="1">
        <p:scale>
          <a:sx n="119" d="100"/>
          <a:sy n="119" d="100"/>
        </p:scale>
        <p:origin x="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370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5313CE-B578-4124-8FE5-C8EC75ED271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422252BE-BC96-4998-BD03-6FB1C6A0DE0A}">
      <dgm:prSet/>
      <dgm:spPr/>
      <dgm:t>
        <a:bodyPr/>
        <a:lstStyle/>
        <a:p>
          <a:r>
            <a:rPr lang="fr-FR" dirty="0"/>
            <a:t>MySQL </a:t>
          </a:r>
          <a:r>
            <a:rPr lang="fr-FR" dirty="0" err="1"/>
            <a:t>is</a:t>
          </a:r>
          <a:r>
            <a:rPr lang="fr-FR" dirty="0"/>
            <a:t> i an open </a:t>
          </a:r>
          <a:r>
            <a:rPr lang="fr-FR" dirty="0" err="1"/>
            <a:t>sourece</a:t>
          </a:r>
          <a:r>
            <a:rPr lang="fr-FR" dirty="0"/>
            <a:t> </a:t>
          </a:r>
          <a:r>
            <a:rPr lang="fr-FR" dirty="0" err="1"/>
            <a:t>relational</a:t>
          </a:r>
          <a:r>
            <a:rPr lang="fr-FR" dirty="0"/>
            <a:t> </a:t>
          </a:r>
          <a:r>
            <a:rPr lang="fr-FR" dirty="0" err="1"/>
            <a:t>database</a:t>
          </a:r>
          <a:r>
            <a:rPr lang="fr-FR" dirty="0"/>
            <a:t> management system (RDBMS)</a:t>
          </a:r>
          <a:endParaRPr lang="en-US" dirty="0"/>
        </a:p>
      </dgm:t>
    </dgm:pt>
    <dgm:pt modelId="{19927C31-2F56-4350-B8AD-5D02DDEDFAF3}" type="parTrans" cxnId="{D3781699-21A2-4F8C-9ECE-D3CC7578C5C4}">
      <dgm:prSet/>
      <dgm:spPr/>
      <dgm:t>
        <a:bodyPr/>
        <a:lstStyle/>
        <a:p>
          <a:endParaRPr lang="en-US"/>
        </a:p>
      </dgm:t>
    </dgm:pt>
    <dgm:pt modelId="{09FBF3E9-8C3A-4929-8519-9C3501EB4F92}" type="sibTrans" cxnId="{D3781699-21A2-4F8C-9ECE-D3CC7578C5C4}">
      <dgm:prSet/>
      <dgm:spPr/>
      <dgm:t>
        <a:bodyPr/>
        <a:lstStyle/>
        <a:p>
          <a:endParaRPr lang="en-US"/>
        </a:p>
      </dgm:t>
    </dgm:pt>
    <dgm:pt modelId="{B995050C-5ACE-4D8D-B1D9-6AB5A3E1F5EC}">
      <dgm:prSet/>
      <dgm:spPr/>
      <dgm:t>
        <a:bodyPr/>
        <a:lstStyle/>
        <a:p>
          <a:r>
            <a:rPr lang="fr-FR" dirty="0"/>
            <a:t>It </a:t>
          </a:r>
          <a:r>
            <a:rPr lang="fr-FR" dirty="0" err="1"/>
            <a:t>is</a:t>
          </a:r>
          <a:r>
            <a:rPr lang="fr-FR" dirty="0"/>
            <a:t> </a:t>
          </a:r>
          <a:r>
            <a:rPr lang="fr-FR" dirty="0" err="1"/>
            <a:t>developed</a:t>
          </a:r>
          <a:r>
            <a:rPr lang="fr-FR" dirty="0"/>
            <a:t>, </a:t>
          </a:r>
          <a:r>
            <a:rPr lang="fr-FR" dirty="0" err="1"/>
            <a:t>distributed</a:t>
          </a:r>
          <a:r>
            <a:rPr lang="fr-FR" dirty="0"/>
            <a:t>, and </a:t>
          </a:r>
          <a:r>
            <a:rPr lang="fr-FR" dirty="0" err="1"/>
            <a:t>supported</a:t>
          </a:r>
          <a:r>
            <a:rPr lang="fr-FR" dirty="0"/>
            <a:t> by Oracle Corporation. It </a:t>
          </a:r>
          <a:r>
            <a:rPr lang="fr-FR" dirty="0" err="1"/>
            <a:t>is</a:t>
          </a:r>
          <a:r>
            <a:rPr lang="fr-FR" dirty="0"/>
            <a:t> a cross-platform, </a:t>
          </a:r>
          <a:r>
            <a:rPr lang="fr-FR" dirty="0" err="1"/>
            <a:t>powerful</a:t>
          </a:r>
          <a:r>
            <a:rPr lang="fr-FR" dirty="0"/>
            <a:t>, flexible, and extensible </a:t>
          </a:r>
          <a:r>
            <a:rPr lang="fr-FR" dirty="0" err="1"/>
            <a:t>relational</a:t>
          </a:r>
          <a:r>
            <a:rPr lang="fr-FR" dirty="0"/>
            <a:t> </a:t>
          </a:r>
          <a:r>
            <a:rPr lang="fr-FR" dirty="0" err="1"/>
            <a:t>database</a:t>
          </a:r>
          <a:r>
            <a:rPr lang="fr-FR" dirty="0"/>
            <a:t> </a:t>
          </a:r>
          <a:r>
            <a:rPr lang="fr-FR" dirty="0" err="1"/>
            <a:t>that</a:t>
          </a:r>
          <a:r>
            <a:rPr lang="fr-FR" dirty="0"/>
            <a:t> </a:t>
          </a:r>
          <a:r>
            <a:rPr lang="fr-FR" dirty="0" err="1"/>
            <a:t>is</a:t>
          </a:r>
          <a:r>
            <a:rPr lang="fr-FR" dirty="0"/>
            <a:t> </a:t>
          </a:r>
          <a:r>
            <a:rPr lang="fr-FR" dirty="0" err="1"/>
            <a:t>based</a:t>
          </a:r>
          <a:r>
            <a:rPr lang="fr-FR" dirty="0"/>
            <a:t> on the SQL (</a:t>
          </a:r>
          <a:r>
            <a:rPr lang="fr-FR" dirty="0" err="1"/>
            <a:t>Structured</a:t>
          </a:r>
          <a:r>
            <a:rPr lang="fr-FR" dirty="0"/>
            <a:t> </a:t>
          </a:r>
          <a:r>
            <a:rPr lang="fr-FR" dirty="0" err="1"/>
            <a:t>Query</a:t>
          </a:r>
          <a:r>
            <a:rPr lang="fr-FR" dirty="0"/>
            <a:t> </a:t>
          </a:r>
          <a:r>
            <a:rPr lang="fr-FR" dirty="0" err="1"/>
            <a:t>Language</a:t>
          </a:r>
          <a:r>
            <a:rPr lang="fr-FR" dirty="0"/>
            <a:t>) </a:t>
          </a:r>
          <a:r>
            <a:rPr lang="fr-FR" dirty="0" err="1"/>
            <a:t>standardized</a:t>
          </a:r>
          <a:r>
            <a:rPr lang="fr-FR" dirty="0"/>
            <a:t> </a:t>
          </a:r>
          <a:r>
            <a:rPr lang="fr-FR" dirty="0" err="1"/>
            <a:t>language</a:t>
          </a:r>
          <a:r>
            <a:rPr lang="fr-FR" dirty="0"/>
            <a:t> </a:t>
          </a:r>
          <a:r>
            <a:rPr lang="fr-FR" dirty="0" err="1"/>
            <a:t>used</a:t>
          </a:r>
          <a:r>
            <a:rPr lang="fr-FR" dirty="0"/>
            <a:t> to </a:t>
          </a:r>
          <a:r>
            <a:rPr lang="fr-FR" dirty="0" err="1"/>
            <a:t>create</a:t>
          </a:r>
          <a:r>
            <a:rPr lang="fr-FR" dirty="0"/>
            <a:t> and </a:t>
          </a:r>
          <a:r>
            <a:rPr lang="fr-FR" dirty="0" err="1"/>
            <a:t>manipulate</a:t>
          </a:r>
          <a:r>
            <a:rPr lang="fr-FR" dirty="0"/>
            <a:t> </a:t>
          </a:r>
          <a:r>
            <a:rPr lang="fr-FR" dirty="0" err="1"/>
            <a:t>databases</a:t>
          </a:r>
          <a:r>
            <a:rPr lang="fr-FR" dirty="0"/>
            <a:t>.</a:t>
          </a:r>
          <a:endParaRPr lang="en-US" dirty="0"/>
        </a:p>
      </dgm:t>
    </dgm:pt>
    <dgm:pt modelId="{EB589194-E1C4-4874-84F7-97FA63CB1E70}" type="parTrans" cxnId="{C20A6A4F-91CB-40F0-9DA6-07D2B33306A9}">
      <dgm:prSet/>
      <dgm:spPr/>
      <dgm:t>
        <a:bodyPr/>
        <a:lstStyle/>
        <a:p>
          <a:endParaRPr lang="en-US"/>
        </a:p>
      </dgm:t>
    </dgm:pt>
    <dgm:pt modelId="{FD57AA9A-9CA9-4D24-B511-14A98DF6683D}" type="sibTrans" cxnId="{C20A6A4F-91CB-40F0-9DA6-07D2B33306A9}">
      <dgm:prSet/>
      <dgm:spPr/>
      <dgm:t>
        <a:bodyPr/>
        <a:lstStyle/>
        <a:p>
          <a:endParaRPr lang="en-US"/>
        </a:p>
      </dgm:t>
    </dgm:pt>
    <dgm:pt modelId="{4E969696-4562-44DF-95DE-87F52A8E2993}">
      <dgm:prSet phldr="0"/>
      <dgm:spPr/>
      <dgm:t>
        <a:bodyPr/>
        <a:lstStyle/>
        <a:p>
          <a:endParaRPr lang="fr-FR" dirty="0">
            <a:latin typeface="Gill Sans MT" panose="020B0502020104020203"/>
          </a:endParaRPr>
        </a:p>
      </dgm:t>
    </dgm:pt>
    <dgm:pt modelId="{D9833ABB-349F-4FDC-8252-A5BECF2DE16B}" type="parTrans" cxnId="{97BE51EF-285A-4F84-B491-1D5E6E0326D1}">
      <dgm:prSet/>
      <dgm:spPr/>
    </dgm:pt>
    <dgm:pt modelId="{91D4470A-B225-4AEA-B489-BF866E057673}" type="sibTrans" cxnId="{97BE51EF-285A-4F84-B491-1D5E6E0326D1}">
      <dgm:prSet/>
      <dgm:spPr/>
    </dgm:pt>
    <dgm:pt modelId="{9CBCE870-0AD0-49C5-B675-A34B625C0791}" type="pres">
      <dgm:prSet presAssocID="{1A5313CE-B578-4124-8FE5-C8EC75ED2710}" presName="root" presStyleCnt="0">
        <dgm:presLayoutVars>
          <dgm:dir/>
          <dgm:resizeHandles val="exact"/>
        </dgm:presLayoutVars>
      </dgm:prSet>
      <dgm:spPr/>
    </dgm:pt>
    <dgm:pt modelId="{2668FC95-E41F-44B9-956C-592D633FB895}" type="pres">
      <dgm:prSet presAssocID="{422252BE-BC96-4998-BD03-6FB1C6A0DE0A}" presName="compNode" presStyleCnt="0"/>
      <dgm:spPr/>
    </dgm:pt>
    <dgm:pt modelId="{FF39963C-1526-4A1B-AA12-3BFB2BC3297D}" type="pres">
      <dgm:prSet presAssocID="{422252BE-BC96-4998-BD03-6FB1C6A0DE0A}" presName="bgRect" presStyleLbl="bgShp" presStyleIdx="0" presStyleCnt="3"/>
      <dgm:spPr/>
    </dgm:pt>
    <dgm:pt modelId="{21DAA1B9-3989-4220-BA62-6CDC9A19D1CC}" type="pres">
      <dgm:prSet presAssocID="{422252BE-BC96-4998-BD03-6FB1C6A0DE0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onnées"/>
        </a:ext>
      </dgm:extLst>
    </dgm:pt>
    <dgm:pt modelId="{CD39D720-B41D-4C55-839C-C541E64DDD32}" type="pres">
      <dgm:prSet presAssocID="{422252BE-BC96-4998-BD03-6FB1C6A0DE0A}" presName="spaceRect" presStyleCnt="0"/>
      <dgm:spPr/>
    </dgm:pt>
    <dgm:pt modelId="{92A2E727-48FF-4829-B5A6-28D5F28C4757}" type="pres">
      <dgm:prSet presAssocID="{422252BE-BC96-4998-BD03-6FB1C6A0DE0A}" presName="parTx" presStyleLbl="revTx" presStyleIdx="0" presStyleCnt="3">
        <dgm:presLayoutVars>
          <dgm:chMax val="0"/>
          <dgm:chPref val="0"/>
        </dgm:presLayoutVars>
      </dgm:prSet>
      <dgm:spPr/>
    </dgm:pt>
    <dgm:pt modelId="{4DD34137-36D2-474C-8F64-80325185D062}" type="pres">
      <dgm:prSet presAssocID="{09FBF3E9-8C3A-4929-8519-9C3501EB4F92}" presName="sibTrans" presStyleCnt="0"/>
      <dgm:spPr/>
    </dgm:pt>
    <dgm:pt modelId="{14D5C861-71F8-4084-8F38-661301D8CC9E}" type="pres">
      <dgm:prSet presAssocID="{B995050C-5ACE-4D8D-B1D9-6AB5A3E1F5EC}" presName="compNode" presStyleCnt="0"/>
      <dgm:spPr/>
    </dgm:pt>
    <dgm:pt modelId="{DE9734DD-8D38-4228-9255-EC73815C57BB}" type="pres">
      <dgm:prSet presAssocID="{B995050C-5ACE-4D8D-B1D9-6AB5A3E1F5EC}" presName="bgRect" presStyleLbl="bgShp" presStyleIdx="1" presStyleCnt="3"/>
      <dgm:spPr/>
    </dgm:pt>
    <dgm:pt modelId="{D4A5C890-C5D8-4677-BBBF-34B2FFD9CA25}" type="pres">
      <dgm:prSet presAssocID="{B995050C-5ACE-4D8D-B1D9-6AB5A3E1F5E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ur"/>
        </a:ext>
      </dgm:extLst>
    </dgm:pt>
    <dgm:pt modelId="{70AD48FD-EE4D-4EB1-86BF-565E079DEF74}" type="pres">
      <dgm:prSet presAssocID="{B995050C-5ACE-4D8D-B1D9-6AB5A3E1F5EC}" presName="spaceRect" presStyleCnt="0"/>
      <dgm:spPr/>
    </dgm:pt>
    <dgm:pt modelId="{EFDB1917-4EC0-4D3B-AEC3-224F1D3F2715}" type="pres">
      <dgm:prSet presAssocID="{B995050C-5ACE-4D8D-B1D9-6AB5A3E1F5EC}" presName="parTx" presStyleLbl="revTx" presStyleIdx="1" presStyleCnt="3">
        <dgm:presLayoutVars>
          <dgm:chMax val="0"/>
          <dgm:chPref val="0"/>
        </dgm:presLayoutVars>
      </dgm:prSet>
      <dgm:spPr/>
    </dgm:pt>
    <dgm:pt modelId="{2D844F59-5312-40B8-90A6-627F4153F80B}" type="pres">
      <dgm:prSet presAssocID="{FD57AA9A-9CA9-4D24-B511-14A98DF6683D}" presName="sibTrans" presStyleCnt="0"/>
      <dgm:spPr/>
    </dgm:pt>
    <dgm:pt modelId="{2B00A77E-6D5E-466F-B968-DF45E8953D77}" type="pres">
      <dgm:prSet presAssocID="{4E969696-4562-44DF-95DE-87F52A8E2993}" presName="compNode" presStyleCnt="0"/>
      <dgm:spPr/>
    </dgm:pt>
    <dgm:pt modelId="{7DE80F8C-24A5-48B1-88A2-C0796E389828}" type="pres">
      <dgm:prSet presAssocID="{4E969696-4562-44DF-95DE-87F52A8E2993}" presName="bgRect" presStyleLbl="bgShp" presStyleIdx="2" presStyleCnt="3"/>
      <dgm:spPr/>
    </dgm:pt>
    <dgm:pt modelId="{5D87CBA2-4694-4E4B-BF05-9F6CD66C26DF}" type="pres">
      <dgm:prSet presAssocID="{4E969696-4562-44DF-95DE-87F52A8E2993}" presName="iconRect" presStyleLbl="node1" presStyleIdx="2" presStyleCnt="3"/>
      <dgm:spPr>
        <a:ln>
          <a:noFill/>
        </a:ln>
      </dgm:spPr>
    </dgm:pt>
    <dgm:pt modelId="{BE46341B-A127-4C91-A80E-FE199FCC39F4}" type="pres">
      <dgm:prSet presAssocID="{4E969696-4562-44DF-95DE-87F52A8E2993}" presName="spaceRect" presStyleCnt="0"/>
      <dgm:spPr/>
    </dgm:pt>
    <dgm:pt modelId="{5C94A8FA-2460-4B28-AABD-C4AFCE33A67F}" type="pres">
      <dgm:prSet presAssocID="{4E969696-4562-44DF-95DE-87F52A8E299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9DA3315-B917-4407-90BF-1A3E10AF627D}" type="presOf" srcId="{1A5313CE-B578-4124-8FE5-C8EC75ED2710}" destId="{9CBCE870-0AD0-49C5-B675-A34B625C0791}" srcOrd="0" destOrd="0" presId="urn:microsoft.com/office/officeart/2018/2/layout/IconVerticalSolidList"/>
    <dgm:cxn modelId="{2E70621C-04D2-4FFD-97F6-B702E6A1BF0D}" type="presOf" srcId="{B995050C-5ACE-4D8D-B1D9-6AB5A3E1F5EC}" destId="{EFDB1917-4EC0-4D3B-AEC3-224F1D3F2715}" srcOrd="0" destOrd="0" presId="urn:microsoft.com/office/officeart/2018/2/layout/IconVerticalSolidList"/>
    <dgm:cxn modelId="{C20A6A4F-91CB-40F0-9DA6-07D2B33306A9}" srcId="{1A5313CE-B578-4124-8FE5-C8EC75ED2710}" destId="{B995050C-5ACE-4D8D-B1D9-6AB5A3E1F5EC}" srcOrd="1" destOrd="0" parTransId="{EB589194-E1C4-4874-84F7-97FA63CB1E70}" sibTransId="{FD57AA9A-9CA9-4D24-B511-14A98DF6683D}"/>
    <dgm:cxn modelId="{D3781699-21A2-4F8C-9ECE-D3CC7578C5C4}" srcId="{1A5313CE-B578-4124-8FE5-C8EC75ED2710}" destId="{422252BE-BC96-4998-BD03-6FB1C6A0DE0A}" srcOrd="0" destOrd="0" parTransId="{19927C31-2F56-4350-B8AD-5D02DDEDFAF3}" sibTransId="{09FBF3E9-8C3A-4929-8519-9C3501EB4F92}"/>
    <dgm:cxn modelId="{8B5A18AB-5FF6-44C4-97DE-B19AB13EB283}" type="presOf" srcId="{4E969696-4562-44DF-95DE-87F52A8E2993}" destId="{5C94A8FA-2460-4B28-AABD-C4AFCE33A67F}" srcOrd="0" destOrd="0" presId="urn:microsoft.com/office/officeart/2018/2/layout/IconVerticalSolidList"/>
    <dgm:cxn modelId="{3FC3E7D7-2D44-4C2E-97C3-E764C8FACEAB}" type="presOf" srcId="{422252BE-BC96-4998-BD03-6FB1C6A0DE0A}" destId="{92A2E727-48FF-4829-B5A6-28D5F28C4757}" srcOrd="0" destOrd="0" presId="urn:microsoft.com/office/officeart/2018/2/layout/IconVerticalSolidList"/>
    <dgm:cxn modelId="{97BE51EF-285A-4F84-B491-1D5E6E0326D1}" srcId="{1A5313CE-B578-4124-8FE5-C8EC75ED2710}" destId="{4E969696-4562-44DF-95DE-87F52A8E2993}" srcOrd="2" destOrd="0" parTransId="{D9833ABB-349F-4FDC-8252-A5BECF2DE16B}" sibTransId="{91D4470A-B225-4AEA-B489-BF866E057673}"/>
    <dgm:cxn modelId="{BDAA8C4B-E0F4-48A1-BFA8-DD470D5DAD8B}" type="presParOf" srcId="{9CBCE870-0AD0-49C5-B675-A34B625C0791}" destId="{2668FC95-E41F-44B9-956C-592D633FB895}" srcOrd="0" destOrd="0" presId="urn:microsoft.com/office/officeart/2018/2/layout/IconVerticalSolidList"/>
    <dgm:cxn modelId="{F45BCCA1-A769-4A41-A29D-0855D1057541}" type="presParOf" srcId="{2668FC95-E41F-44B9-956C-592D633FB895}" destId="{FF39963C-1526-4A1B-AA12-3BFB2BC3297D}" srcOrd="0" destOrd="0" presId="urn:microsoft.com/office/officeart/2018/2/layout/IconVerticalSolidList"/>
    <dgm:cxn modelId="{CD16F21D-405D-431C-9032-9A92AC4D4395}" type="presParOf" srcId="{2668FC95-E41F-44B9-956C-592D633FB895}" destId="{21DAA1B9-3989-4220-BA62-6CDC9A19D1CC}" srcOrd="1" destOrd="0" presId="urn:microsoft.com/office/officeart/2018/2/layout/IconVerticalSolidList"/>
    <dgm:cxn modelId="{6C512464-8319-42BD-86E4-9F9F701FC989}" type="presParOf" srcId="{2668FC95-E41F-44B9-956C-592D633FB895}" destId="{CD39D720-B41D-4C55-839C-C541E64DDD32}" srcOrd="2" destOrd="0" presId="urn:microsoft.com/office/officeart/2018/2/layout/IconVerticalSolidList"/>
    <dgm:cxn modelId="{54F70855-2B47-4EC2-94D5-E6715C82A00E}" type="presParOf" srcId="{2668FC95-E41F-44B9-956C-592D633FB895}" destId="{92A2E727-48FF-4829-B5A6-28D5F28C4757}" srcOrd="3" destOrd="0" presId="urn:microsoft.com/office/officeart/2018/2/layout/IconVerticalSolidList"/>
    <dgm:cxn modelId="{BC30CDBA-C07C-4334-A25D-813FEC5C7FF8}" type="presParOf" srcId="{9CBCE870-0AD0-49C5-B675-A34B625C0791}" destId="{4DD34137-36D2-474C-8F64-80325185D062}" srcOrd="1" destOrd="0" presId="urn:microsoft.com/office/officeart/2018/2/layout/IconVerticalSolidList"/>
    <dgm:cxn modelId="{1333F9F2-B04E-4F27-9599-E92AE00893E2}" type="presParOf" srcId="{9CBCE870-0AD0-49C5-B675-A34B625C0791}" destId="{14D5C861-71F8-4084-8F38-661301D8CC9E}" srcOrd="2" destOrd="0" presId="urn:microsoft.com/office/officeart/2018/2/layout/IconVerticalSolidList"/>
    <dgm:cxn modelId="{B6E5D6B6-CED5-4D9A-A219-27904DDA0C38}" type="presParOf" srcId="{14D5C861-71F8-4084-8F38-661301D8CC9E}" destId="{DE9734DD-8D38-4228-9255-EC73815C57BB}" srcOrd="0" destOrd="0" presId="urn:microsoft.com/office/officeart/2018/2/layout/IconVerticalSolidList"/>
    <dgm:cxn modelId="{CC9F6D27-A55F-4627-8B53-043FE471829F}" type="presParOf" srcId="{14D5C861-71F8-4084-8F38-661301D8CC9E}" destId="{D4A5C890-C5D8-4677-BBBF-34B2FFD9CA25}" srcOrd="1" destOrd="0" presId="urn:microsoft.com/office/officeart/2018/2/layout/IconVerticalSolidList"/>
    <dgm:cxn modelId="{2057C1B1-FBC6-4D55-87AD-E4AFDF5C9E75}" type="presParOf" srcId="{14D5C861-71F8-4084-8F38-661301D8CC9E}" destId="{70AD48FD-EE4D-4EB1-86BF-565E079DEF74}" srcOrd="2" destOrd="0" presId="urn:microsoft.com/office/officeart/2018/2/layout/IconVerticalSolidList"/>
    <dgm:cxn modelId="{E6DF698C-5FF3-4AC3-A453-13BF1AE3CE32}" type="presParOf" srcId="{14D5C861-71F8-4084-8F38-661301D8CC9E}" destId="{EFDB1917-4EC0-4D3B-AEC3-224F1D3F2715}" srcOrd="3" destOrd="0" presId="urn:microsoft.com/office/officeart/2018/2/layout/IconVerticalSolidList"/>
    <dgm:cxn modelId="{F4FFFCEB-F601-44A9-B6C7-E9F083B0488C}" type="presParOf" srcId="{9CBCE870-0AD0-49C5-B675-A34B625C0791}" destId="{2D844F59-5312-40B8-90A6-627F4153F80B}" srcOrd="3" destOrd="0" presId="urn:microsoft.com/office/officeart/2018/2/layout/IconVerticalSolidList"/>
    <dgm:cxn modelId="{BDC474E2-D47D-4553-82E9-34B47312696A}" type="presParOf" srcId="{9CBCE870-0AD0-49C5-B675-A34B625C0791}" destId="{2B00A77E-6D5E-466F-B968-DF45E8953D77}" srcOrd="4" destOrd="0" presId="urn:microsoft.com/office/officeart/2018/2/layout/IconVerticalSolidList"/>
    <dgm:cxn modelId="{2FD233D9-4D38-4EEB-81F8-3CC5292E835C}" type="presParOf" srcId="{2B00A77E-6D5E-466F-B968-DF45E8953D77}" destId="{7DE80F8C-24A5-48B1-88A2-C0796E389828}" srcOrd="0" destOrd="0" presId="urn:microsoft.com/office/officeart/2018/2/layout/IconVerticalSolidList"/>
    <dgm:cxn modelId="{1B40C07F-D45D-4F75-A68A-0BC482663CDA}" type="presParOf" srcId="{2B00A77E-6D5E-466F-B968-DF45E8953D77}" destId="{5D87CBA2-4694-4E4B-BF05-9F6CD66C26DF}" srcOrd="1" destOrd="0" presId="urn:microsoft.com/office/officeart/2018/2/layout/IconVerticalSolidList"/>
    <dgm:cxn modelId="{DCFD7D23-CD1D-4F57-98B4-B9F213328C67}" type="presParOf" srcId="{2B00A77E-6D5E-466F-B968-DF45E8953D77}" destId="{BE46341B-A127-4C91-A80E-FE199FCC39F4}" srcOrd="2" destOrd="0" presId="urn:microsoft.com/office/officeart/2018/2/layout/IconVerticalSolidList"/>
    <dgm:cxn modelId="{EE12A3D4-8FFD-4A7D-8AE9-552644B8DE70}" type="presParOf" srcId="{2B00A77E-6D5E-466F-B968-DF45E8953D77}" destId="{5C94A8FA-2460-4B28-AABD-C4AFCE33A67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39963C-1526-4A1B-AA12-3BFB2BC3297D}">
      <dsp:nvSpPr>
        <dsp:cNvPr id="0" name=""/>
        <dsp:cNvSpPr/>
      </dsp:nvSpPr>
      <dsp:spPr>
        <a:xfrm>
          <a:off x="0" y="454"/>
          <a:ext cx="9604375" cy="10635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DAA1B9-3989-4220-BA62-6CDC9A19D1CC}">
      <dsp:nvSpPr>
        <dsp:cNvPr id="0" name=""/>
        <dsp:cNvSpPr/>
      </dsp:nvSpPr>
      <dsp:spPr>
        <a:xfrm>
          <a:off x="321714" y="239746"/>
          <a:ext cx="584935" cy="5849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A2E727-48FF-4829-B5A6-28D5F28C4757}">
      <dsp:nvSpPr>
        <dsp:cNvPr id="0" name=""/>
        <dsp:cNvSpPr/>
      </dsp:nvSpPr>
      <dsp:spPr>
        <a:xfrm>
          <a:off x="1228364" y="454"/>
          <a:ext cx="8376010" cy="1063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556" tIns="112556" rIns="112556" bIns="11255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MySQL </a:t>
          </a:r>
          <a:r>
            <a:rPr lang="fr-FR" sz="1700" kern="1200" dirty="0" err="1"/>
            <a:t>is</a:t>
          </a:r>
          <a:r>
            <a:rPr lang="fr-FR" sz="1700" kern="1200" dirty="0"/>
            <a:t> i an open </a:t>
          </a:r>
          <a:r>
            <a:rPr lang="fr-FR" sz="1700" kern="1200" dirty="0" err="1"/>
            <a:t>sourece</a:t>
          </a:r>
          <a:r>
            <a:rPr lang="fr-FR" sz="1700" kern="1200" dirty="0"/>
            <a:t> </a:t>
          </a:r>
          <a:r>
            <a:rPr lang="fr-FR" sz="1700" kern="1200" dirty="0" err="1"/>
            <a:t>relational</a:t>
          </a:r>
          <a:r>
            <a:rPr lang="fr-FR" sz="1700" kern="1200" dirty="0"/>
            <a:t> </a:t>
          </a:r>
          <a:r>
            <a:rPr lang="fr-FR" sz="1700" kern="1200" dirty="0" err="1"/>
            <a:t>database</a:t>
          </a:r>
          <a:r>
            <a:rPr lang="fr-FR" sz="1700" kern="1200" dirty="0"/>
            <a:t> management system (RDBMS)</a:t>
          </a:r>
          <a:endParaRPr lang="en-US" sz="1700" kern="1200" dirty="0"/>
        </a:p>
      </dsp:txBody>
      <dsp:txXfrm>
        <a:off x="1228364" y="454"/>
        <a:ext cx="8376010" cy="1063519"/>
      </dsp:txXfrm>
    </dsp:sp>
    <dsp:sp modelId="{DE9734DD-8D38-4228-9255-EC73815C57BB}">
      <dsp:nvSpPr>
        <dsp:cNvPr id="0" name=""/>
        <dsp:cNvSpPr/>
      </dsp:nvSpPr>
      <dsp:spPr>
        <a:xfrm>
          <a:off x="0" y="1329853"/>
          <a:ext cx="9604375" cy="10635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A5C890-C5D8-4677-BBBF-34B2FFD9CA25}">
      <dsp:nvSpPr>
        <dsp:cNvPr id="0" name=""/>
        <dsp:cNvSpPr/>
      </dsp:nvSpPr>
      <dsp:spPr>
        <a:xfrm>
          <a:off x="321714" y="1569145"/>
          <a:ext cx="584935" cy="5849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DB1917-4EC0-4D3B-AEC3-224F1D3F2715}">
      <dsp:nvSpPr>
        <dsp:cNvPr id="0" name=""/>
        <dsp:cNvSpPr/>
      </dsp:nvSpPr>
      <dsp:spPr>
        <a:xfrm>
          <a:off x="1228364" y="1329853"/>
          <a:ext cx="8376010" cy="1063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556" tIns="112556" rIns="112556" bIns="11255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It </a:t>
          </a:r>
          <a:r>
            <a:rPr lang="fr-FR" sz="1700" kern="1200" dirty="0" err="1"/>
            <a:t>is</a:t>
          </a:r>
          <a:r>
            <a:rPr lang="fr-FR" sz="1700" kern="1200" dirty="0"/>
            <a:t> </a:t>
          </a:r>
          <a:r>
            <a:rPr lang="fr-FR" sz="1700" kern="1200" dirty="0" err="1"/>
            <a:t>developed</a:t>
          </a:r>
          <a:r>
            <a:rPr lang="fr-FR" sz="1700" kern="1200" dirty="0"/>
            <a:t>, </a:t>
          </a:r>
          <a:r>
            <a:rPr lang="fr-FR" sz="1700" kern="1200" dirty="0" err="1"/>
            <a:t>distributed</a:t>
          </a:r>
          <a:r>
            <a:rPr lang="fr-FR" sz="1700" kern="1200" dirty="0"/>
            <a:t>, and </a:t>
          </a:r>
          <a:r>
            <a:rPr lang="fr-FR" sz="1700" kern="1200" dirty="0" err="1"/>
            <a:t>supported</a:t>
          </a:r>
          <a:r>
            <a:rPr lang="fr-FR" sz="1700" kern="1200" dirty="0"/>
            <a:t> by Oracle Corporation. It </a:t>
          </a:r>
          <a:r>
            <a:rPr lang="fr-FR" sz="1700" kern="1200" dirty="0" err="1"/>
            <a:t>is</a:t>
          </a:r>
          <a:r>
            <a:rPr lang="fr-FR" sz="1700" kern="1200" dirty="0"/>
            <a:t> a cross-platform, </a:t>
          </a:r>
          <a:r>
            <a:rPr lang="fr-FR" sz="1700" kern="1200" dirty="0" err="1"/>
            <a:t>powerful</a:t>
          </a:r>
          <a:r>
            <a:rPr lang="fr-FR" sz="1700" kern="1200" dirty="0"/>
            <a:t>, flexible, and extensible </a:t>
          </a:r>
          <a:r>
            <a:rPr lang="fr-FR" sz="1700" kern="1200" dirty="0" err="1"/>
            <a:t>relational</a:t>
          </a:r>
          <a:r>
            <a:rPr lang="fr-FR" sz="1700" kern="1200" dirty="0"/>
            <a:t> </a:t>
          </a:r>
          <a:r>
            <a:rPr lang="fr-FR" sz="1700" kern="1200" dirty="0" err="1"/>
            <a:t>database</a:t>
          </a:r>
          <a:r>
            <a:rPr lang="fr-FR" sz="1700" kern="1200" dirty="0"/>
            <a:t> </a:t>
          </a:r>
          <a:r>
            <a:rPr lang="fr-FR" sz="1700" kern="1200" dirty="0" err="1"/>
            <a:t>that</a:t>
          </a:r>
          <a:r>
            <a:rPr lang="fr-FR" sz="1700" kern="1200" dirty="0"/>
            <a:t> </a:t>
          </a:r>
          <a:r>
            <a:rPr lang="fr-FR" sz="1700" kern="1200" dirty="0" err="1"/>
            <a:t>is</a:t>
          </a:r>
          <a:r>
            <a:rPr lang="fr-FR" sz="1700" kern="1200" dirty="0"/>
            <a:t> </a:t>
          </a:r>
          <a:r>
            <a:rPr lang="fr-FR" sz="1700" kern="1200" dirty="0" err="1"/>
            <a:t>based</a:t>
          </a:r>
          <a:r>
            <a:rPr lang="fr-FR" sz="1700" kern="1200" dirty="0"/>
            <a:t> on the SQL (</a:t>
          </a:r>
          <a:r>
            <a:rPr lang="fr-FR" sz="1700" kern="1200" dirty="0" err="1"/>
            <a:t>Structured</a:t>
          </a:r>
          <a:r>
            <a:rPr lang="fr-FR" sz="1700" kern="1200" dirty="0"/>
            <a:t> </a:t>
          </a:r>
          <a:r>
            <a:rPr lang="fr-FR" sz="1700" kern="1200" dirty="0" err="1"/>
            <a:t>Query</a:t>
          </a:r>
          <a:r>
            <a:rPr lang="fr-FR" sz="1700" kern="1200" dirty="0"/>
            <a:t> </a:t>
          </a:r>
          <a:r>
            <a:rPr lang="fr-FR" sz="1700" kern="1200" dirty="0" err="1"/>
            <a:t>Language</a:t>
          </a:r>
          <a:r>
            <a:rPr lang="fr-FR" sz="1700" kern="1200" dirty="0"/>
            <a:t>) </a:t>
          </a:r>
          <a:r>
            <a:rPr lang="fr-FR" sz="1700" kern="1200" dirty="0" err="1"/>
            <a:t>standardized</a:t>
          </a:r>
          <a:r>
            <a:rPr lang="fr-FR" sz="1700" kern="1200" dirty="0"/>
            <a:t> </a:t>
          </a:r>
          <a:r>
            <a:rPr lang="fr-FR" sz="1700" kern="1200" dirty="0" err="1"/>
            <a:t>language</a:t>
          </a:r>
          <a:r>
            <a:rPr lang="fr-FR" sz="1700" kern="1200" dirty="0"/>
            <a:t> </a:t>
          </a:r>
          <a:r>
            <a:rPr lang="fr-FR" sz="1700" kern="1200" dirty="0" err="1"/>
            <a:t>used</a:t>
          </a:r>
          <a:r>
            <a:rPr lang="fr-FR" sz="1700" kern="1200" dirty="0"/>
            <a:t> to </a:t>
          </a:r>
          <a:r>
            <a:rPr lang="fr-FR" sz="1700" kern="1200" dirty="0" err="1"/>
            <a:t>create</a:t>
          </a:r>
          <a:r>
            <a:rPr lang="fr-FR" sz="1700" kern="1200" dirty="0"/>
            <a:t> and </a:t>
          </a:r>
          <a:r>
            <a:rPr lang="fr-FR" sz="1700" kern="1200" dirty="0" err="1"/>
            <a:t>manipulate</a:t>
          </a:r>
          <a:r>
            <a:rPr lang="fr-FR" sz="1700" kern="1200" dirty="0"/>
            <a:t> </a:t>
          </a:r>
          <a:r>
            <a:rPr lang="fr-FR" sz="1700" kern="1200" dirty="0" err="1"/>
            <a:t>databases</a:t>
          </a:r>
          <a:r>
            <a:rPr lang="fr-FR" sz="1700" kern="1200" dirty="0"/>
            <a:t>.</a:t>
          </a:r>
          <a:endParaRPr lang="en-US" sz="1700" kern="1200" dirty="0"/>
        </a:p>
      </dsp:txBody>
      <dsp:txXfrm>
        <a:off x="1228364" y="1329853"/>
        <a:ext cx="8376010" cy="1063519"/>
      </dsp:txXfrm>
    </dsp:sp>
    <dsp:sp modelId="{7DE80F8C-24A5-48B1-88A2-C0796E389828}">
      <dsp:nvSpPr>
        <dsp:cNvPr id="0" name=""/>
        <dsp:cNvSpPr/>
      </dsp:nvSpPr>
      <dsp:spPr>
        <a:xfrm>
          <a:off x="0" y="2659253"/>
          <a:ext cx="9604375" cy="10635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87CBA2-4694-4E4B-BF05-9F6CD66C26DF}">
      <dsp:nvSpPr>
        <dsp:cNvPr id="0" name=""/>
        <dsp:cNvSpPr/>
      </dsp:nvSpPr>
      <dsp:spPr>
        <a:xfrm>
          <a:off x="321714" y="2898544"/>
          <a:ext cx="584935" cy="58493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94A8FA-2460-4B28-AABD-C4AFCE33A67F}">
      <dsp:nvSpPr>
        <dsp:cNvPr id="0" name=""/>
        <dsp:cNvSpPr/>
      </dsp:nvSpPr>
      <dsp:spPr>
        <a:xfrm>
          <a:off x="1228364" y="2659253"/>
          <a:ext cx="8376010" cy="1063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556" tIns="112556" rIns="112556" bIns="11255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700" kern="1200" dirty="0">
            <a:latin typeface="Gill Sans MT" panose="020B0502020104020203"/>
          </a:endParaRPr>
        </a:p>
      </dsp:txBody>
      <dsp:txXfrm>
        <a:off x="1228364" y="2659253"/>
        <a:ext cx="8376010" cy="10635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419F53EA-F482-478C-A149-AC1FFE07C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2DD54A1-E3D8-4068-A21E-CA4F310DB0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C7FF3D-C5F5-4AC3-8F18-E8B53B43BF30}" type="datetime1">
              <a:rPr lang="fr-FR" smtClean="0"/>
              <a:t>14/02/2022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4AAA2CD-8B31-40E2-9C28-63CE51E7F9F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6FABA94-0B94-490D-822B-7DC6B3A9E4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B8D298-A79E-416D-8301-EE0BFB96C4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808142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7DEC79-C634-472A-AE71-2FB2E246F3A4}" type="datetime1">
              <a:rPr lang="fr-FR" smtClean="0"/>
              <a:pPr/>
              <a:t>14/02/2022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noProof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A61D08-A544-4DEF-9451-4774D4FA6D9C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7818843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A61D08-A544-4DEF-9451-4774D4FA6D9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3272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rtlCol="0" anchor="b">
            <a:normAutofit/>
          </a:bodyPr>
          <a:lstStyle>
            <a:lvl1pPr algn="l">
              <a:defRPr sz="66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 rtlCol="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CB228C-EF1F-4920-9494-709A53769A52}" type="datetime1">
              <a:rPr lang="fr-FR" noProof="0" smtClean="0"/>
              <a:t>14/02/2022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15" name="Connecteur droit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 rtlCol="0" anchor="t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5E078CC-60ED-4E98-BE8B-D9F158CDA348}" type="datetime1">
              <a:rPr lang="fr-FR" noProof="0" smtClean="0"/>
              <a:t>14/02/2022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33" name="Connecteur droit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rtlCol="0" anchor="b">
            <a:normAutofit/>
          </a:bodyPr>
          <a:lstStyle>
            <a:lvl1pPr algn="l">
              <a:defRPr sz="36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454239" y="3806195"/>
            <a:ext cx="8630446" cy="1012929"/>
          </a:xfrm>
        </p:spPr>
        <p:txBody>
          <a:bodyPr tIns="91440" rtlCol="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82946FF-A091-47C4-B909-49247B84F023}" type="datetime1">
              <a:rPr lang="fr-FR" noProof="0" smtClean="0"/>
              <a:t>14/02/2022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15" name="Connecteur droit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1447331" y="2010878"/>
            <a:ext cx="4645152" cy="3448595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413771" y="2017343"/>
            <a:ext cx="4645152" cy="3441520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13F872-B07E-4D3D-9FF5-95882E508B02}" type="datetime1">
              <a:rPr lang="fr-FR" noProof="0" smtClean="0"/>
              <a:t>14/02/2022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35" name="Connecteur droit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447191" y="2019549"/>
            <a:ext cx="4645152" cy="801943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1447191" y="2824269"/>
            <a:ext cx="4645152" cy="2644457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412362" y="2023003"/>
            <a:ext cx="4645152" cy="802237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412362" y="2821491"/>
            <a:ext cx="4645152" cy="2637371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6CF3E7-8327-4338-819B-EA552EED6D71}" type="datetime1">
              <a:rPr lang="fr-FR" noProof="0" smtClean="0"/>
              <a:t>14/02/2022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29" name="Connecteur droit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99657E-0662-4D79-8828-DA9139323C80}" type="datetime1">
              <a:rPr lang="fr-FR" noProof="0" smtClean="0"/>
              <a:t>14/02/2022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25" name="Connecteur droit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8AFE6F-10DA-46C3-A49E-27F68F071EC8}" type="datetime1">
              <a:rPr lang="fr-FR" noProof="0" smtClean="0"/>
              <a:t>14/02/2022</a:t>
            </a:fld>
            <a:endParaRPr lang="fr-FR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rtlCol="0" anchor="b">
            <a:normAutofit/>
          </a:bodyPr>
          <a:lstStyle>
            <a:lvl1pPr algn="l">
              <a:defRPr sz="24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043714" y="798974"/>
            <a:ext cx="6012470" cy="4658826"/>
          </a:xfrm>
        </p:spPr>
        <p:txBody>
          <a:bodyPr rtlCol="0" anchor="ctr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444671" y="3205491"/>
            <a:ext cx="3275013" cy="2248181"/>
          </a:xfrm>
        </p:spPr>
        <p:txBody>
          <a:bodyPr rtlCol="0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EF6281-5ACC-43E8-B61C-C1BECF115942}" type="datetime1">
              <a:rPr lang="fr-FR" noProof="0" smtClean="0"/>
              <a:t>14/02/2022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17" name="Connecteur droit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e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rtlCol="0" anchor="b">
            <a:normAutofit/>
          </a:bodyPr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rtlCol="0"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450329" y="3145992"/>
            <a:ext cx="5524404" cy="2003742"/>
          </a:xfrm>
        </p:spPr>
        <p:txBody>
          <a:bodyPr rtlCol="0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3DFC6E80-1E63-44AB-A42A-92EC9C13D265}" type="datetime1">
              <a:rPr lang="fr-FR" noProof="0" smtClean="0"/>
              <a:t>14/02/2022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31" name="Connecteur droit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AC7854F-F5D8-4DF9-88AF-B95C867C07E6}" type="datetime1">
              <a:rPr lang="fr-FR" noProof="0" smtClean="0"/>
              <a:t>14/02/2022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26" name="Connecteur droit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 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 hasCustomPrompt="1"/>
          </p:nvPr>
        </p:nvSpPr>
        <p:spPr>
          <a:xfrm>
            <a:off x="1444672" y="798973"/>
            <a:ext cx="7828830" cy="4659889"/>
          </a:xfrm>
        </p:spPr>
        <p:txBody>
          <a:bodyPr vert="eaVert"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00BB2E1-6F74-4D9D-B390-DC6360267DF6}" type="datetime1">
              <a:rPr lang="fr-FR" noProof="0" smtClean="0"/>
              <a:t>14/02/2022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15" name="Connecteur droit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7C99894C-1F98-4697-B9D6-894BE514B1DC}" type="datetime1">
              <a:rPr lang="fr-FR" noProof="0" smtClean="0"/>
              <a:t>14/02/2022</a:t>
            </a:fld>
            <a:endParaRPr lang="fr-FR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pPr rtl="0"/>
            <a:fld id="{6D22F896-40B5-4ADD-8801-0D06FADFA095}" type="slidenum">
              <a:rPr lang="fr-FR" noProof="0" smtClean="0"/>
              <a:pPr/>
              <a:t>‹N°›</a:t>
            </a:fld>
            <a:endParaRPr lang="fr-FR" noProof="0"/>
          </a:p>
        </p:txBody>
      </p:sp>
      <p:cxnSp>
        <p:nvCxnSpPr>
          <p:cNvPr id="10" name="Connecteur droit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8D226DA-E368-46E4-BF0C-D467A1E86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365695" y="938717"/>
            <a:ext cx="8689157" cy="3541837"/>
          </a:xfrm>
        </p:spPr>
        <p:txBody>
          <a:bodyPr rtlCol="0">
            <a:normAutofit/>
          </a:bodyPr>
          <a:lstStyle/>
          <a:p>
            <a:r>
              <a:rPr lang="fr-FR" dirty="0">
                <a:ea typeface="+mj-lt"/>
                <a:cs typeface="+mj-lt"/>
              </a:rPr>
              <a:t> RDBMS 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481152" y="4941662"/>
            <a:ext cx="8638352" cy="977621"/>
          </a:xfrm>
        </p:spPr>
        <p:txBody>
          <a:bodyPr vert="horz" lIns="91440" tIns="91440" rIns="91440" bIns="91440" rtlCol="0">
            <a:normAutofit/>
          </a:bodyPr>
          <a:lstStyle/>
          <a:p>
            <a:r>
              <a:rPr lang="fr-FR" sz="1600"/>
              <a:t>Hamrouni walid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105F2EF-F4AA-488F-8E74-484FA00785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76728" y="4735528"/>
            <a:ext cx="864301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6326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BE8DF5A-24FF-46C2-8BC4-EE7589E2E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fr-FR" dirty="0">
                <a:ea typeface="+mj-lt"/>
                <a:cs typeface="+mj-lt"/>
              </a:rPr>
              <a:t>MySQL</a:t>
            </a:r>
            <a:endParaRPr lang="fr-FR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42" name="Espace réservé du contenu 2">
            <a:extLst>
              <a:ext uri="{FF2B5EF4-FFF2-40B4-BE49-F238E27FC236}">
                <a16:creationId xmlns:a16="http://schemas.microsoft.com/office/drawing/2014/main" id="{08D22754-E919-4B3D-808A-E9D3B8FC20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9166655"/>
              </p:ext>
            </p:extLst>
          </p:nvPr>
        </p:nvGraphicFramePr>
        <p:xfrm>
          <a:off x="1450975" y="2331497"/>
          <a:ext cx="9604375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3821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8E51B09-2B9E-4D82-A5F8-29F85CBE2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9240118-40F3-4A1C-85DC-4E58525CB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269951F-7B8C-4336-BC68-9BA9843CE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2239" y="482171"/>
            <a:ext cx="4074533" cy="5149101"/>
            <a:chOff x="7463259" y="583365"/>
            <a:chExt cx="4074533" cy="5181928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FD48101-E230-4669-8C1B-39BAAB2BB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3259" y="583365"/>
              <a:ext cx="4074533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18FA112-D8F0-41D3-9171-B0A3110E2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6318" y="915807"/>
              <a:ext cx="3450289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9087EE4-E285-4C8E-AC5F-CAE7D1FDE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90359" y="1847088"/>
            <a:ext cx="554803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F11C2F39-6AEA-4345-97B4-D52204D9F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043" y="804520"/>
            <a:ext cx="5550355" cy="1049235"/>
          </a:xfrm>
        </p:spPr>
        <p:txBody>
          <a:bodyPr>
            <a:normAutofit/>
          </a:bodyPr>
          <a:lstStyle/>
          <a:p>
            <a:r>
              <a:rPr lang="fr-FR" dirty="0">
                <a:ea typeface="+mj-lt"/>
                <a:cs typeface="+mj-lt"/>
              </a:rPr>
              <a:t>SQL</a:t>
            </a:r>
            <a:endParaRPr lang="fr-FR"/>
          </a:p>
        </p:txBody>
      </p:sp>
      <p:pic>
        <p:nvPicPr>
          <p:cNvPr id="5" name="Picture 4" descr="Cubes connected with a red line">
            <a:extLst>
              <a:ext uri="{FF2B5EF4-FFF2-40B4-BE49-F238E27FC236}">
                <a16:creationId xmlns:a16="http://schemas.microsoft.com/office/drawing/2014/main" id="{433EB23B-10FC-4F7E-93CB-7F7DBA4CB4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125" r="22129" b="4"/>
          <a:stretch/>
        </p:blipFill>
        <p:spPr>
          <a:xfrm>
            <a:off x="1285438" y="1116345"/>
            <a:ext cx="2799103" cy="3866172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E3F483-7FF9-4390-AF54-E4B4FE1A9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043" y="2015732"/>
            <a:ext cx="5550355" cy="345061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fr-FR" sz="1900" dirty="0">
                <a:ea typeface="+mn-lt"/>
                <a:cs typeface="+mn-lt"/>
              </a:rPr>
              <a:t>SQL (Structure </a:t>
            </a:r>
            <a:r>
              <a:rPr lang="fr-FR" sz="1900" dirty="0" err="1">
                <a:ea typeface="+mn-lt"/>
                <a:cs typeface="+mn-lt"/>
              </a:rPr>
              <a:t>Query</a:t>
            </a:r>
            <a:r>
              <a:rPr lang="fr-FR" sz="1900" dirty="0">
                <a:ea typeface="+mn-lt"/>
                <a:cs typeface="+mn-lt"/>
              </a:rPr>
              <a:t> </a:t>
            </a:r>
            <a:r>
              <a:rPr lang="fr-FR" sz="1900" dirty="0" err="1">
                <a:ea typeface="+mn-lt"/>
                <a:cs typeface="+mn-lt"/>
              </a:rPr>
              <a:t>Language</a:t>
            </a:r>
            <a:r>
              <a:rPr lang="fr-FR" sz="1900" dirty="0">
                <a:ea typeface="+mn-lt"/>
                <a:cs typeface="+mn-lt"/>
              </a:rPr>
              <a:t> ) </a:t>
            </a:r>
            <a:r>
              <a:rPr lang="fr-FR" sz="1900" dirty="0" err="1">
                <a:ea typeface="+mn-lt"/>
                <a:cs typeface="+mn-lt"/>
              </a:rPr>
              <a:t>is</a:t>
            </a:r>
            <a:r>
              <a:rPr lang="fr-FR" sz="1900" dirty="0">
                <a:ea typeface="+mn-lt"/>
                <a:cs typeface="+mn-lt"/>
              </a:rPr>
              <a:t> the </a:t>
            </a:r>
            <a:r>
              <a:rPr lang="fr-FR" sz="1900" dirty="0" err="1">
                <a:ea typeface="+mn-lt"/>
                <a:cs typeface="+mn-lt"/>
              </a:rPr>
              <a:t>most</a:t>
            </a:r>
            <a:r>
              <a:rPr lang="fr-FR" sz="1900" dirty="0">
                <a:ea typeface="+mn-lt"/>
                <a:cs typeface="+mn-lt"/>
              </a:rPr>
              <a:t> </a:t>
            </a:r>
            <a:r>
              <a:rPr lang="fr-FR" sz="1900" dirty="0" err="1">
                <a:ea typeface="+mn-lt"/>
                <a:cs typeface="+mn-lt"/>
              </a:rPr>
              <a:t>common</a:t>
            </a:r>
            <a:r>
              <a:rPr lang="fr-FR" sz="1900" dirty="0">
                <a:ea typeface="+mn-lt"/>
                <a:cs typeface="+mn-lt"/>
              </a:rPr>
              <a:t> </a:t>
            </a:r>
            <a:r>
              <a:rPr lang="fr-FR" sz="1900" dirty="0" err="1">
                <a:ea typeface="+mn-lt"/>
                <a:cs typeface="+mn-lt"/>
              </a:rPr>
              <a:t>language</a:t>
            </a:r>
            <a:r>
              <a:rPr lang="fr-FR" sz="1900" dirty="0">
                <a:ea typeface="+mn-lt"/>
                <a:cs typeface="+mn-lt"/>
              </a:rPr>
              <a:t> for </a:t>
            </a:r>
            <a:r>
              <a:rPr lang="fr-FR" sz="1900" dirty="0" err="1">
                <a:ea typeface="+mn-lt"/>
                <a:cs typeface="+mn-lt"/>
              </a:rPr>
              <a:t>extracting</a:t>
            </a:r>
            <a:r>
              <a:rPr lang="fr-FR" sz="1900" dirty="0">
                <a:ea typeface="+mn-lt"/>
                <a:cs typeface="+mn-lt"/>
              </a:rPr>
              <a:t> and </a:t>
            </a:r>
            <a:r>
              <a:rPr lang="fr-FR" sz="1900" dirty="0" err="1">
                <a:ea typeface="+mn-lt"/>
                <a:cs typeface="+mn-lt"/>
              </a:rPr>
              <a:t>organising</a:t>
            </a:r>
            <a:r>
              <a:rPr lang="fr-FR" sz="1900" dirty="0">
                <a:ea typeface="+mn-lt"/>
                <a:cs typeface="+mn-lt"/>
              </a:rPr>
              <a:t> data </a:t>
            </a:r>
            <a:r>
              <a:rPr lang="fr-FR" sz="1900" dirty="0" err="1">
                <a:ea typeface="+mn-lt"/>
                <a:cs typeface="+mn-lt"/>
              </a:rPr>
              <a:t>that</a:t>
            </a:r>
            <a:r>
              <a:rPr lang="fr-FR" sz="1900" dirty="0">
                <a:ea typeface="+mn-lt"/>
                <a:cs typeface="+mn-lt"/>
              </a:rPr>
              <a:t> </a:t>
            </a:r>
            <a:r>
              <a:rPr lang="fr-FR" sz="1900" dirty="0" err="1">
                <a:ea typeface="+mn-lt"/>
                <a:cs typeface="+mn-lt"/>
              </a:rPr>
              <a:t>is</a:t>
            </a:r>
            <a:r>
              <a:rPr lang="fr-FR" sz="1900" dirty="0">
                <a:ea typeface="+mn-lt"/>
                <a:cs typeface="+mn-lt"/>
              </a:rPr>
              <a:t> </a:t>
            </a:r>
            <a:r>
              <a:rPr lang="fr-FR" sz="1900" dirty="0" err="1">
                <a:ea typeface="+mn-lt"/>
                <a:cs typeface="+mn-lt"/>
              </a:rPr>
              <a:t>stored</a:t>
            </a:r>
            <a:r>
              <a:rPr lang="fr-FR" sz="1900" dirty="0">
                <a:ea typeface="+mn-lt"/>
                <a:cs typeface="+mn-lt"/>
              </a:rPr>
              <a:t> in a </a:t>
            </a:r>
            <a:r>
              <a:rPr lang="fr-FR" sz="1900" dirty="0" err="1">
                <a:ea typeface="+mn-lt"/>
                <a:cs typeface="+mn-lt"/>
              </a:rPr>
              <a:t>relational</a:t>
            </a:r>
            <a:r>
              <a:rPr lang="fr-FR" sz="1900" dirty="0">
                <a:ea typeface="+mn-lt"/>
                <a:cs typeface="+mn-lt"/>
              </a:rPr>
              <a:t> </a:t>
            </a:r>
            <a:r>
              <a:rPr lang="fr-FR" sz="1900" dirty="0" err="1">
                <a:ea typeface="+mn-lt"/>
                <a:cs typeface="+mn-lt"/>
              </a:rPr>
              <a:t>database</a:t>
            </a:r>
            <a:r>
              <a:rPr lang="fr-FR" sz="1900" dirty="0">
                <a:ea typeface="+mn-lt"/>
                <a:cs typeface="+mn-lt"/>
              </a:rPr>
              <a:t>. A </a:t>
            </a:r>
            <a:r>
              <a:rPr lang="fr-FR" sz="1900" dirty="0" err="1">
                <a:ea typeface="+mn-lt"/>
                <a:cs typeface="+mn-lt"/>
              </a:rPr>
              <a:t>database</a:t>
            </a:r>
            <a:r>
              <a:rPr lang="fr-FR" sz="1900" dirty="0">
                <a:ea typeface="+mn-lt"/>
                <a:cs typeface="+mn-lt"/>
              </a:rPr>
              <a:t> </a:t>
            </a:r>
            <a:r>
              <a:rPr lang="fr-FR" sz="1900" dirty="0" err="1">
                <a:ea typeface="+mn-lt"/>
                <a:cs typeface="+mn-lt"/>
              </a:rPr>
              <a:t>is</a:t>
            </a:r>
            <a:r>
              <a:rPr lang="fr-FR" sz="1900" dirty="0">
                <a:ea typeface="+mn-lt"/>
                <a:cs typeface="+mn-lt"/>
              </a:rPr>
              <a:t> a table </a:t>
            </a:r>
            <a:r>
              <a:rPr lang="fr-FR" sz="1900" dirty="0" err="1">
                <a:ea typeface="+mn-lt"/>
                <a:cs typeface="+mn-lt"/>
              </a:rPr>
              <a:t>that</a:t>
            </a:r>
            <a:r>
              <a:rPr lang="fr-FR" sz="1900" dirty="0">
                <a:ea typeface="+mn-lt"/>
                <a:cs typeface="+mn-lt"/>
              </a:rPr>
              <a:t> </a:t>
            </a:r>
            <a:r>
              <a:rPr lang="fr-FR" sz="1900" dirty="0" err="1">
                <a:ea typeface="+mn-lt"/>
                <a:cs typeface="+mn-lt"/>
              </a:rPr>
              <a:t>consists</a:t>
            </a:r>
            <a:r>
              <a:rPr lang="fr-FR" sz="1900" dirty="0">
                <a:ea typeface="+mn-lt"/>
                <a:cs typeface="+mn-lt"/>
              </a:rPr>
              <a:t> of </a:t>
            </a:r>
            <a:r>
              <a:rPr lang="fr-FR" sz="1900" dirty="0" err="1">
                <a:ea typeface="+mn-lt"/>
                <a:cs typeface="+mn-lt"/>
              </a:rPr>
              <a:t>rows</a:t>
            </a:r>
            <a:r>
              <a:rPr lang="fr-FR" sz="1900" dirty="0">
                <a:ea typeface="+mn-lt"/>
                <a:cs typeface="+mn-lt"/>
              </a:rPr>
              <a:t> and </a:t>
            </a:r>
            <a:r>
              <a:rPr lang="fr-FR" sz="1900" dirty="0" err="1">
                <a:ea typeface="+mn-lt"/>
                <a:cs typeface="+mn-lt"/>
              </a:rPr>
              <a:t>columns</a:t>
            </a:r>
            <a:r>
              <a:rPr lang="fr-FR" sz="1900" dirty="0">
                <a:ea typeface="+mn-lt"/>
                <a:cs typeface="+mn-lt"/>
              </a:rPr>
              <a:t>. </a:t>
            </a:r>
            <a:endParaRPr lang="fr-FR" sz="1900">
              <a:ea typeface="+mn-lt"/>
              <a:cs typeface="+mn-lt"/>
            </a:endParaRPr>
          </a:p>
          <a:p>
            <a:pPr>
              <a:lnSpc>
                <a:spcPct val="110000"/>
              </a:lnSpc>
            </a:pPr>
            <a:r>
              <a:rPr lang="fr-FR" sz="1900" dirty="0">
                <a:ea typeface="+mn-lt"/>
                <a:cs typeface="+mn-lt"/>
              </a:rPr>
              <a:t>SQL </a:t>
            </a:r>
            <a:r>
              <a:rPr lang="fr-FR" sz="1900" dirty="0" err="1">
                <a:ea typeface="+mn-lt"/>
                <a:cs typeface="+mn-lt"/>
              </a:rPr>
              <a:t>is</a:t>
            </a:r>
            <a:r>
              <a:rPr lang="fr-FR" sz="1900" dirty="0">
                <a:ea typeface="+mn-lt"/>
                <a:cs typeface="+mn-lt"/>
              </a:rPr>
              <a:t> </a:t>
            </a:r>
            <a:r>
              <a:rPr lang="fr-FR" sz="1900" dirty="0" err="1">
                <a:ea typeface="+mn-lt"/>
                <a:cs typeface="+mn-lt"/>
              </a:rPr>
              <a:t>used</a:t>
            </a:r>
            <a:r>
              <a:rPr lang="fr-FR" sz="1900" dirty="0">
                <a:ea typeface="+mn-lt"/>
                <a:cs typeface="+mn-lt"/>
              </a:rPr>
              <a:t> for </a:t>
            </a:r>
            <a:r>
              <a:rPr lang="fr-FR" sz="1900" dirty="0" err="1">
                <a:ea typeface="+mn-lt"/>
                <a:cs typeface="+mn-lt"/>
              </a:rPr>
              <a:t>accessing</a:t>
            </a:r>
            <a:r>
              <a:rPr lang="fr-FR" sz="1900" dirty="0">
                <a:ea typeface="+mn-lt"/>
                <a:cs typeface="+mn-lt"/>
              </a:rPr>
              <a:t>, </a:t>
            </a:r>
            <a:r>
              <a:rPr lang="fr-FR" sz="1900" dirty="0" err="1">
                <a:ea typeface="+mn-lt"/>
                <a:cs typeface="+mn-lt"/>
              </a:rPr>
              <a:t>updating</a:t>
            </a:r>
            <a:r>
              <a:rPr lang="fr-FR" sz="1900" dirty="0">
                <a:ea typeface="+mn-lt"/>
                <a:cs typeface="+mn-lt"/>
              </a:rPr>
              <a:t> and </a:t>
            </a:r>
            <a:r>
              <a:rPr lang="fr-FR" sz="1900" dirty="0" err="1">
                <a:ea typeface="+mn-lt"/>
                <a:cs typeface="+mn-lt"/>
              </a:rPr>
              <a:t>maintaining</a:t>
            </a:r>
            <a:r>
              <a:rPr lang="fr-FR" sz="1900" dirty="0">
                <a:ea typeface="+mn-lt"/>
                <a:cs typeface="+mn-lt"/>
              </a:rPr>
              <a:t> data in a </a:t>
            </a:r>
            <a:r>
              <a:rPr lang="fr-FR" sz="1900" dirty="0" err="1">
                <a:ea typeface="+mn-lt"/>
                <a:cs typeface="+mn-lt"/>
              </a:rPr>
              <a:t>database</a:t>
            </a:r>
            <a:r>
              <a:rPr lang="fr-FR" sz="1900" dirty="0">
                <a:ea typeface="+mn-lt"/>
                <a:cs typeface="+mn-lt"/>
              </a:rPr>
              <a:t> </a:t>
            </a:r>
          </a:p>
          <a:p>
            <a:pPr>
              <a:lnSpc>
                <a:spcPct val="110000"/>
              </a:lnSpc>
            </a:pPr>
            <a:endParaRPr lang="fr-FR" sz="19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D8AF6BD-5D32-4F8F-98B6-05F8A4390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47013E4-D33D-425E-B32E-DE7D5CB5F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5282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CEA843-6873-4585-ADC3-F4D7BBE60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ea typeface="+mj-lt"/>
                <a:cs typeface="+mj-lt"/>
              </a:rPr>
              <a:t>PostgreSQL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0F14ED-D253-408D-9F78-81E53866C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4"/>
            <a:ext cx="5435733" cy="3450613"/>
          </a:xfrm>
        </p:spPr>
        <p:txBody>
          <a:bodyPr>
            <a:normAutofit/>
          </a:bodyPr>
          <a:lstStyle/>
          <a:p>
            <a:r>
              <a:rPr lang="fr-FR" dirty="0">
                <a:ea typeface="+mn-lt"/>
                <a:cs typeface="+mn-lt"/>
              </a:rPr>
              <a:t>PostgreSQL </a:t>
            </a:r>
            <a:r>
              <a:rPr lang="fr-FR" dirty="0" err="1">
                <a:ea typeface="+mn-lt"/>
                <a:cs typeface="+mn-lt"/>
              </a:rPr>
              <a:t>is</a:t>
            </a:r>
            <a:r>
              <a:rPr lang="fr-FR" dirty="0">
                <a:ea typeface="+mn-lt"/>
                <a:cs typeface="+mn-lt"/>
              </a:rPr>
              <a:t> a </a:t>
            </a:r>
            <a:r>
              <a:rPr lang="fr-FR" dirty="0" err="1">
                <a:ea typeface="+mn-lt"/>
                <a:cs typeface="+mn-lt"/>
              </a:rPr>
              <a:t>powerful</a:t>
            </a:r>
            <a:r>
              <a:rPr lang="fr-FR" dirty="0">
                <a:ea typeface="+mn-lt"/>
                <a:cs typeface="+mn-lt"/>
              </a:rPr>
              <a:t>, open source </a:t>
            </a:r>
            <a:r>
              <a:rPr lang="fr-FR" dirty="0" err="1">
                <a:ea typeface="+mn-lt"/>
                <a:cs typeface="+mn-lt"/>
              </a:rPr>
              <a:t>object-relational</a:t>
            </a:r>
            <a:r>
              <a:rPr lang="fr-FR" dirty="0">
                <a:ea typeface="+mn-lt"/>
                <a:cs typeface="+mn-lt"/>
              </a:rPr>
              <a:t> </a:t>
            </a:r>
            <a:r>
              <a:rPr lang="fr-FR" dirty="0" err="1">
                <a:ea typeface="+mn-lt"/>
                <a:cs typeface="+mn-lt"/>
              </a:rPr>
              <a:t>database</a:t>
            </a:r>
            <a:r>
              <a:rPr lang="fr-FR" dirty="0">
                <a:ea typeface="+mn-lt"/>
                <a:cs typeface="+mn-lt"/>
              </a:rPr>
              <a:t> system </a:t>
            </a:r>
            <a:r>
              <a:rPr lang="fr-FR" dirty="0" err="1">
                <a:ea typeface="+mn-lt"/>
                <a:cs typeface="+mn-lt"/>
              </a:rPr>
              <a:t>with</a:t>
            </a:r>
            <a:r>
              <a:rPr lang="fr-FR" dirty="0">
                <a:ea typeface="+mn-lt"/>
                <a:cs typeface="+mn-lt"/>
              </a:rPr>
              <a:t> over 30 </a:t>
            </a:r>
            <a:r>
              <a:rPr lang="fr-FR" dirty="0" err="1">
                <a:ea typeface="+mn-lt"/>
                <a:cs typeface="+mn-lt"/>
              </a:rPr>
              <a:t>years</a:t>
            </a:r>
            <a:r>
              <a:rPr lang="fr-FR" dirty="0">
                <a:ea typeface="+mn-lt"/>
                <a:cs typeface="+mn-lt"/>
              </a:rPr>
              <a:t> of active </a:t>
            </a:r>
            <a:r>
              <a:rPr lang="fr-FR" dirty="0" err="1">
                <a:ea typeface="+mn-lt"/>
                <a:cs typeface="+mn-lt"/>
              </a:rPr>
              <a:t>development</a:t>
            </a:r>
            <a:r>
              <a:rPr lang="fr-FR" dirty="0">
                <a:ea typeface="+mn-lt"/>
                <a:cs typeface="+mn-lt"/>
              </a:rPr>
              <a:t> </a:t>
            </a:r>
            <a:r>
              <a:rPr lang="fr-FR" dirty="0" err="1">
                <a:ea typeface="+mn-lt"/>
                <a:cs typeface="+mn-lt"/>
              </a:rPr>
              <a:t>that</a:t>
            </a:r>
            <a:r>
              <a:rPr lang="fr-FR" dirty="0">
                <a:ea typeface="+mn-lt"/>
                <a:cs typeface="+mn-lt"/>
              </a:rPr>
              <a:t> has </a:t>
            </a:r>
            <a:r>
              <a:rPr lang="fr-FR" dirty="0" err="1">
                <a:ea typeface="+mn-lt"/>
                <a:cs typeface="+mn-lt"/>
              </a:rPr>
              <a:t>earned</a:t>
            </a:r>
            <a:r>
              <a:rPr lang="fr-FR" dirty="0">
                <a:ea typeface="+mn-lt"/>
                <a:cs typeface="+mn-lt"/>
              </a:rPr>
              <a:t> </a:t>
            </a:r>
            <a:r>
              <a:rPr lang="fr-FR" dirty="0" err="1">
                <a:ea typeface="+mn-lt"/>
                <a:cs typeface="+mn-lt"/>
              </a:rPr>
              <a:t>it</a:t>
            </a:r>
            <a:r>
              <a:rPr lang="fr-FR" dirty="0">
                <a:ea typeface="+mn-lt"/>
                <a:cs typeface="+mn-lt"/>
              </a:rPr>
              <a:t> a </a:t>
            </a:r>
            <a:r>
              <a:rPr lang="fr-FR" dirty="0" err="1">
                <a:ea typeface="+mn-lt"/>
                <a:cs typeface="+mn-lt"/>
              </a:rPr>
              <a:t>strong</a:t>
            </a:r>
            <a:r>
              <a:rPr lang="fr-FR" dirty="0">
                <a:ea typeface="+mn-lt"/>
                <a:cs typeface="+mn-lt"/>
              </a:rPr>
              <a:t> </a:t>
            </a:r>
            <a:r>
              <a:rPr lang="fr-FR" dirty="0" err="1">
                <a:ea typeface="+mn-lt"/>
                <a:cs typeface="+mn-lt"/>
              </a:rPr>
              <a:t>reputation</a:t>
            </a:r>
            <a:r>
              <a:rPr lang="fr-FR" dirty="0">
                <a:ea typeface="+mn-lt"/>
                <a:cs typeface="+mn-lt"/>
              </a:rPr>
              <a:t> for </a:t>
            </a:r>
            <a:r>
              <a:rPr lang="fr-FR" dirty="0" err="1">
                <a:ea typeface="+mn-lt"/>
                <a:cs typeface="+mn-lt"/>
              </a:rPr>
              <a:t>reliability</a:t>
            </a:r>
            <a:r>
              <a:rPr lang="fr-FR" dirty="0">
                <a:ea typeface="+mn-lt"/>
                <a:cs typeface="+mn-lt"/>
              </a:rPr>
              <a:t>, </a:t>
            </a:r>
            <a:r>
              <a:rPr lang="fr-FR" dirty="0" err="1">
                <a:ea typeface="+mn-lt"/>
                <a:cs typeface="+mn-lt"/>
              </a:rPr>
              <a:t>feature</a:t>
            </a:r>
            <a:r>
              <a:rPr lang="fr-FR" dirty="0">
                <a:ea typeface="+mn-lt"/>
                <a:cs typeface="+mn-lt"/>
              </a:rPr>
              <a:t> </a:t>
            </a:r>
            <a:r>
              <a:rPr lang="fr-FR" dirty="0" err="1">
                <a:ea typeface="+mn-lt"/>
                <a:cs typeface="+mn-lt"/>
              </a:rPr>
              <a:t>robustness</a:t>
            </a:r>
            <a:r>
              <a:rPr lang="fr-FR" dirty="0">
                <a:ea typeface="+mn-lt"/>
                <a:cs typeface="+mn-lt"/>
              </a:rPr>
              <a:t>, and performance.</a:t>
            </a:r>
            <a:endParaRPr lang="fr-FR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EB7DF70-0A31-4A61-9C8B-3333776A1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90413" y="2012810"/>
            <a:ext cx="3668069" cy="3453535"/>
            <a:chOff x="7807230" y="2012810"/>
            <a:chExt cx="3251252" cy="345986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7926867-8D58-4875-8B76-E87E5BE825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9F6663C-0F32-4FB9-B549-C2757F49F9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E9AAFF8-A839-4ECC-B506-FD8A16679F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052" r="31869"/>
          <a:stretch/>
        </p:blipFill>
        <p:spPr>
          <a:xfrm>
            <a:off x="7554139" y="2174242"/>
            <a:ext cx="3336989" cy="3124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21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4F891EB-ED45-44C3-95D6-FFB2EC07F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A385B8-7C85-4CE0-AE3A-00EB627B3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1B71B52-1DA7-4D57-A40D-7E6C06107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205" y="804519"/>
            <a:ext cx="3241820" cy="4431360"/>
          </a:xfrm>
        </p:spPr>
        <p:txBody>
          <a:bodyPr anchor="ctr">
            <a:normAutofit/>
          </a:bodyPr>
          <a:lstStyle/>
          <a:p>
            <a:r>
              <a:rPr lang="fr-FR" dirty="0">
                <a:ea typeface="+mj-lt"/>
                <a:cs typeface="+mj-lt"/>
              </a:rPr>
              <a:t>MYSQL </a:t>
            </a:r>
            <a:br>
              <a:rPr lang="fr-FR" dirty="0">
                <a:ea typeface="+mj-lt"/>
                <a:cs typeface="+mj-lt"/>
              </a:rPr>
            </a:br>
            <a:r>
              <a:rPr lang="fr-FR" dirty="0">
                <a:ea typeface="+mj-lt"/>
                <a:cs typeface="+mj-lt"/>
              </a:rPr>
              <a:t>     vs</a:t>
            </a:r>
            <a:br>
              <a:rPr lang="fr-FR" dirty="0">
                <a:ea typeface="+mj-lt"/>
                <a:cs typeface="+mj-lt"/>
              </a:rPr>
            </a:br>
            <a:r>
              <a:rPr lang="fr-FR" dirty="0">
                <a:ea typeface="+mj-lt"/>
                <a:cs typeface="+mj-lt"/>
              </a:rPr>
              <a:t> PostgreSQL  </a:t>
            </a:r>
            <a:endParaRPr lang="fr-FR" dirty="0"/>
          </a:p>
          <a:p>
            <a:endParaRPr lang="fr-FR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9AF263B-E208-40DF-A182-5193478DC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45156" y="890353"/>
            <a:ext cx="0" cy="45720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FDF5FD-C7E6-4E7E-B0C7-BFB3F4345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7863" y="804520"/>
            <a:ext cx="6102559" cy="4431359"/>
          </a:xfrm>
        </p:spPr>
        <p:txBody>
          <a:bodyPr anchor="ctr">
            <a:normAutofit/>
          </a:bodyPr>
          <a:lstStyle/>
          <a:p>
            <a:r>
              <a:rPr lang="fr-FR" dirty="0">
                <a:ea typeface="+mn-lt"/>
                <a:cs typeface="+mn-lt"/>
              </a:rPr>
              <a:t>PostgreSQL </a:t>
            </a:r>
            <a:r>
              <a:rPr lang="fr-FR" dirty="0" err="1">
                <a:ea typeface="+mn-lt"/>
                <a:cs typeface="+mn-lt"/>
              </a:rPr>
              <a:t>is</a:t>
            </a:r>
            <a:r>
              <a:rPr lang="fr-FR" dirty="0">
                <a:ea typeface="+mn-lt"/>
                <a:cs typeface="+mn-lt"/>
              </a:rPr>
              <a:t> an </a:t>
            </a:r>
            <a:r>
              <a:rPr lang="fr-FR" dirty="0" err="1">
                <a:ea typeface="+mn-lt"/>
                <a:cs typeface="+mn-lt"/>
              </a:rPr>
              <a:t>object-relational</a:t>
            </a:r>
            <a:r>
              <a:rPr lang="fr-FR" dirty="0">
                <a:ea typeface="+mn-lt"/>
                <a:cs typeface="+mn-lt"/>
              </a:rPr>
              <a:t> </a:t>
            </a:r>
            <a:r>
              <a:rPr lang="fr-FR" dirty="0" err="1">
                <a:ea typeface="+mn-lt"/>
                <a:cs typeface="+mn-lt"/>
              </a:rPr>
              <a:t>database</a:t>
            </a:r>
            <a:r>
              <a:rPr lang="fr-FR" dirty="0">
                <a:ea typeface="+mn-lt"/>
                <a:cs typeface="+mn-lt"/>
              </a:rPr>
              <a:t>, </a:t>
            </a:r>
            <a:r>
              <a:rPr lang="fr-FR" dirty="0" err="1">
                <a:ea typeface="+mn-lt"/>
                <a:cs typeface="+mn-lt"/>
              </a:rPr>
              <a:t>while</a:t>
            </a:r>
            <a:r>
              <a:rPr lang="fr-FR" dirty="0">
                <a:ea typeface="+mn-lt"/>
                <a:cs typeface="+mn-lt"/>
              </a:rPr>
              <a:t> MySQL </a:t>
            </a:r>
            <a:r>
              <a:rPr lang="fr-FR" dirty="0" err="1">
                <a:ea typeface="+mn-lt"/>
                <a:cs typeface="+mn-lt"/>
              </a:rPr>
              <a:t>is</a:t>
            </a:r>
            <a:r>
              <a:rPr lang="fr-FR" dirty="0">
                <a:ea typeface="+mn-lt"/>
                <a:cs typeface="+mn-lt"/>
              </a:rPr>
              <a:t> </a:t>
            </a:r>
            <a:r>
              <a:rPr lang="fr-FR" dirty="0" err="1">
                <a:ea typeface="+mn-lt"/>
                <a:cs typeface="+mn-lt"/>
              </a:rPr>
              <a:t>purely</a:t>
            </a:r>
            <a:r>
              <a:rPr lang="fr-FR" dirty="0">
                <a:ea typeface="+mn-lt"/>
                <a:cs typeface="+mn-lt"/>
              </a:rPr>
              <a:t> </a:t>
            </a:r>
            <a:r>
              <a:rPr lang="fr-FR" dirty="0" err="1">
                <a:ea typeface="+mn-lt"/>
                <a:cs typeface="+mn-lt"/>
              </a:rPr>
              <a:t>relational</a:t>
            </a:r>
            <a:r>
              <a:rPr lang="fr-FR" dirty="0">
                <a:ea typeface="+mn-lt"/>
                <a:cs typeface="+mn-lt"/>
              </a:rPr>
              <a:t>. This </a:t>
            </a:r>
            <a:r>
              <a:rPr lang="fr-FR" dirty="0" err="1">
                <a:ea typeface="+mn-lt"/>
                <a:cs typeface="+mn-lt"/>
              </a:rPr>
              <a:t>means</a:t>
            </a:r>
            <a:r>
              <a:rPr lang="fr-FR" dirty="0">
                <a:ea typeface="+mn-lt"/>
                <a:cs typeface="+mn-lt"/>
              </a:rPr>
              <a:t> PostgreSQL </a:t>
            </a:r>
            <a:r>
              <a:rPr lang="fr-FR" dirty="0" err="1">
                <a:ea typeface="+mn-lt"/>
                <a:cs typeface="+mn-lt"/>
              </a:rPr>
              <a:t>offers</a:t>
            </a:r>
            <a:r>
              <a:rPr lang="fr-FR" dirty="0">
                <a:ea typeface="+mn-lt"/>
                <a:cs typeface="+mn-lt"/>
              </a:rPr>
              <a:t> more </a:t>
            </a:r>
            <a:r>
              <a:rPr lang="fr-FR" dirty="0" err="1">
                <a:ea typeface="+mn-lt"/>
                <a:cs typeface="+mn-lt"/>
              </a:rPr>
              <a:t>complex</a:t>
            </a:r>
            <a:r>
              <a:rPr lang="fr-FR" dirty="0">
                <a:ea typeface="+mn-lt"/>
                <a:cs typeface="+mn-lt"/>
              </a:rPr>
              <a:t> data types and </a:t>
            </a:r>
            <a:r>
              <a:rPr lang="fr-FR" dirty="0" err="1">
                <a:ea typeface="+mn-lt"/>
                <a:cs typeface="+mn-lt"/>
              </a:rPr>
              <a:t>allows</a:t>
            </a:r>
            <a:r>
              <a:rPr lang="fr-FR" dirty="0">
                <a:ea typeface="+mn-lt"/>
                <a:cs typeface="+mn-lt"/>
              </a:rPr>
              <a:t> </a:t>
            </a:r>
            <a:r>
              <a:rPr lang="fr-FR" dirty="0" err="1">
                <a:ea typeface="+mn-lt"/>
                <a:cs typeface="+mn-lt"/>
              </a:rPr>
              <a:t>objects</a:t>
            </a:r>
            <a:r>
              <a:rPr lang="fr-FR" dirty="0">
                <a:ea typeface="+mn-lt"/>
                <a:cs typeface="+mn-lt"/>
              </a:rPr>
              <a:t> to </a:t>
            </a:r>
            <a:r>
              <a:rPr lang="fr-FR" dirty="0" err="1">
                <a:ea typeface="+mn-lt"/>
                <a:cs typeface="+mn-lt"/>
              </a:rPr>
              <a:t>inherit</a:t>
            </a:r>
            <a:r>
              <a:rPr lang="fr-FR" dirty="0">
                <a:ea typeface="+mn-lt"/>
                <a:cs typeface="+mn-lt"/>
              </a:rPr>
              <a:t> </a:t>
            </a:r>
            <a:r>
              <a:rPr lang="fr-FR" dirty="0" err="1">
                <a:ea typeface="+mn-lt"/>
                <a:cs typeface="+mn-lt"/>
              </a:rPr>
              <a:t>properties</a:t>
            </a:r>
            <a:r>
              <a:rPr lang="fr-FR" dirty="0">
                <a:ea typeface="+mn-lt"/>
                <a:cs typeface="+mn-lt"/>
              </a:rPr>
              <a:t>, but </a:t>
            </a:r>
            <a:r>
              <a:rPr lang="fr-FR" dirty="0" err="1">
                <a:ea typeface="+mn-lt"/>
                <a:cs typeface="+mn-lt"/>
              </a:rPr>
              <a:t>it</a:t>
            </a:r>
            <a:r>
              <a:rPr lang="fr-FR" dirty="0">
                <a:ea typeface="+mn-lt"/>
                <a:cs typeface="+mn-lt"/>
              </a:rPr>
              <a:t> </a:t>
            </a:r>
            <a:r>
              <a:rPr lang="fr-FR" dirty="0" err="1">
                <a:ea typeface="+mn-lt"/>
                <a:cs typeface="+mn-lt"/>
              </a:rPr>
              <a:t>also</a:t>
            </a:r>
            <a:r>
              <a:rPr lang="fr-FR" dirty="0">
                <a:ea typeface="+mn-lt"/>
                <a:cs typeface="+mn-lt"/>
              </a:rPr>
              <a:t> </a:t>
            </a:r>
            <a:r>
              <a:rPr lang="fr-FR" dirty="0" err="1">
                <a:ea typeface="+mn-lt"/>
                <a:cs typeface="+mn-lt"/>
              </a:rPr>
              <a:t>makes</a:t>
            </a:r>
            <a:r>
              <a:rPr lang="fr-FR" dirty="0">
                <a:ea typeface="+mn-lt"/>
                <a:cs typeface="+mn-lt"/>
              </a:rPr>
              <a:t> </a:t>
            </a:r>
            <a:r>
              <a:rPr lang="fr-FR" dirty="0" err="1">
                <a:ea typeface="+mn-lt"/>
                <a:cs typeface="+mn-lt"/>
              </a:rPr>
              <a:t>working</a:t>
            </a:r>
            <a:r>
              <a:rPr lang="fr-FR" dirty="0">
                <a:ea typeface="+mn-lt"/>
                <a:cs typeface="+mn-lt"/>
              </a:rPr>
              <a:t> </a:t>
            </a:r>
            <a:r>
              <a:rPr lang="fr-FR" dirty="0" err="1">
                <a:ea typeface="+mn-lt"/>
                <a:cs typeface="+mn-lt"/>
              </a:rPr>
              <a:t>with</a:t>
            </a:r>
            <a:r>
              <a:rPr lang="fr-FR" dirty="0">
                <a:ea typeface="+mn-lt"/>
                <a:cs typeface="+mn-lt"/>
              </a:rPr>
              <a:t> PostgreSQL more </a:t>
            </a:r>
            <a:r>
              <a:rPr lang="fr-FR" dirty="0" err="1">
                <a:ea typeface="+mn-lt"/>
                <a:cs typeface="+mn-lt"/>
              </a:rPr>
              <a:t>complex</a:t>
            </a:r>
            <a:r>
              <a:rPr lang="fr-FR" dirty="0">
                <a:ea typeface="+mn-lt"/>
                <a:cs typeface="+mn-lt"/>
              </a:rPr>
              <a:t>.</a:t>
            </a:r>
          </a:p>
          <a:p>
            <a:r>
              <a:rPr lang="fr-FR" dirty="0" err="1">
                <a:ea typeface="+mn-lt"/>
                <a:cs typeface="+mn-lt"/>
              </a:rPr>
              <a:t>Both</a:t>
            </a:r>
            <a:r>
              <a:rPr lang="fr-FR" dirty="0">
                <a:ea typeface="+mn-lt"/>
                <a:cs typeface="+mn-lt"/>
              </a:rPr>
              <a:t> </a:t>
            </a:r>
            <a:r>
              <a:rPr lang="fr-FR" dirty="0" err="1">
                <a:ea typeface="+mn-lt"/>
                <a:cs typeface="+mn-lt"/>
              </a:rPr>
              <a:t>databases</a:t>
            </a:r>
            <a:r>
              <a:rPr lang="fr-FR" dirty="0">
                <a:ea typeface="+mn-lt"/>
                <a:cs typeface="+mn-lt"/>
              </a:rPr>
              <a:t> support user and group management and </a:t>
            </a:r>
            <a:r>
              <a:rPr lang="fr-FR" dirty="0" err="1">
                <a:ea typeface="+mn-lt"/>
                <a:cs typeface="+mn-lt"/>
              </a:rPr>
              <a:t>granting</a:t>
            </a:r>
            <a:r>
              <a:rPr lang="fr-FR" dirty="0">
                <a:ea typeface="+mn-lt"/>
                <a:cs typeface="+mn-lt"/>
              </a:rPr>
              <a:t> SQL </a:t>
            </a:r>
            <a:r>
              <a:rPr lang="fr-FR" dirty="0" err="1">
                <a:ea typeface="+mn-lt"/>
                <a:cs typeface="+mn-lt"/>
              </a:rPr>
              <a:t>privileges</a:t>
            </a:r>
            <a:r>
              <a:rPr lang="fr-FR" dirty="0">
                <a:ea typeface="+mn-lt"/>
                <a:cs typeface="+mn-lt"/>
              </a:rPr>
              <a:t> to </a:t>
            </a:r>
            <a:r>
              <a:rPr lang="fr-FR" dirty="0" err="1">
                <a:ea typeface="+mn-lt"/>
                <a:cs typeface="+mn-lt"/>
              </a:rPr>
              <a:t>roles</a:t>
            </a:r>
            <a:r>
              <a:rPr lang="fr-FR" dirty="0">
                <a:ea typeface="+mn-lt"/>
                <a:cs typeface="+mn-lt"/>
              </a:rPr>
              <a:t>. PostgreSQL supports IP-</a:t>
            </a:r>
            <a:r>
              <a:rPr lang="fr-FR" dirty="0" err="1">
                <a:ea typeface="+mn-lt"/>
                <a:cs typeface="+mn-lt"/>
              </a:rPr>
              <a:t>based</a:t>
            </a:r>
            <a:r>
              <a:rPr lang="fr-FR" dirty="0">
                <a:ea typeface="+mn-lt"/>
                <a:cs typeface="+mn-lt"/>
              </a:rPr>
              <a:t> client </a:t>
            </a:r>
            <a:r>
              <a:rPr lang="fr-FR" dirty="0" err="1">
                <a:ea typeface="+mn-lt"/>
                <a:cs typeface="+mn-lt"/>
              </a:rPr>
              <a:t>filtering</a:t>
            </a:r>
            <a:r>
              <a:rPr lang="fr-FR" dirty="0">
                <a:ea typeface="+mn-lt"/>
                <a:cs typeface="+mn-lt"/>
              </a:rPr>
              <a:t> and </a:t>
            </a:r>
            <a:r>
              <a:rPr lang="fr-FR" dirty="0" err="1">
                <a:ea typeface="+mn-lt"/>
                <a:cs typeface="+mn-lt"/>
              </a:rPr>
              <a:t>authentication</a:t>
            </a:r>
            <a:r>
              <a:rPr lang="fr-FR" dirty="0">
                <a:ea typeface="+mn-lt"/>
                <a:cs typeface="+mn-lt"/>
              </a:rPr>
              <a:t> </a:t>
            </a:r>
            <a:r>
              <a:rPr lang="fr-FR" dirty="0" err="1">
                <a:ea typeface="+mn-lt"/>
                <a:cs typeface="+mn-lt"/>
              </a:rPr>
              <a:t>using</a:t>
            </a:r>
            <a:r>
              <a:rPr lang="fr-FR" dirty="0">
                <a:ea typeface="+mn-lt"/>
                <a:cs typeface="+mn-lt"/>
              </a:rPr>
              <a:t> PAM and Kerberos, </a:t>
            </a:r>
            <a:r>
              <a:rPr lang="fr-FR" dirty="0" err="1">
                <a:ea typeface="+mn-lt"/>
                <a:cs typeface="+mn-lt"/>
              </a:rPr>
              <a:t>while</a:t>
            </a:r>
            <a:r>
              <a:rPr lang="fr-FR" dirty="0">
                <a:ea typeface="+mn-lt"/>
                <a:cs typeface="+mn-lt"/>
              </a:rPr>
              <a:t> MySQL supports PAM, native </a:t>
            </a:r>
            <a:r>
              <a:rPr lang="fr-FR" dirty="0" err="1">
                <a:ea typeface="+mn-lt"/>
                <a:cs typeface="+mn-lt"/>
              </a:rPr>
              <a:t>windows</a:t>
            </a:r>
            <a:r>
              <a:rPr lang="fr-FR" dirty="0">
                <a:ea typeface="+mn-lt"/>
                <a:cs typeface="+mn-lt"/>
              </a:rPr>
              <a:t> services, and LDAP for user </a:t>
            </a:r>
            <a:r>
              <a:rPr lang="fr-FR" dirty="0" err="1">
                <a:ea typeface="+mn-lt"/>
                <a:cs typeface="+mn-lt"/>
              </a:rPr>
              <a:t>authentication</a:t>
            </a:r>
            <a:r>
              <a:rPr lang="fr-FR" dirty="0">
                <a:ea typeface="+mn-lt"/>
                <a:cs typeface="+mn-lt"/>
              </a:rPr>
              <a:t>. In </a:t>
            </a:r>
            <a:r>
              <a:rPr lang="fr-FR" dirty="0" err="1">
                <a:ea typeface="+mn-lt"/>
                <a:cs typeface="+mn-lt"/>
              </a:rPr>
              <a:t>terms</a:t>
            </a:r>
            <a:r>
              <a:rPr lang="fr-FR" dirty="0">
                <a:ea typeface="+mn-lt"/>
                <a:cs typeface="+mn-lt"/>
              </a:rPr>
              <a:t> of </a:t>
            </a:r>
            <a:r>
              <a:rPr lang="fr-FR" dirty="0" err="1">
                <a:ea typeface="+mn-lt"/>
                <a:cs typeface="+mn-lt"/>
              </a:rPr>
              <a:t>security</a:t>
            </a:r>
            <a:r>
              <a:rPr lang="fr-FR" dirty="0">
                <a:ea typeface="+mn-lt"/>
                <a:cs typeface="+mn-lt"/>
              </a:rPr>
              <a:t>, the </a:t>
            </a:r>
            <a:r>
              <a:rPr lang="fr-FR" dirty="0" err="1">
                <a:ea typeface="+mn-lt"/>
                <a:cs typeface="+mn-lt"/>
              </a:rPr>
              <a:t>two</a:t>
            </a:r>
            <a:r>
              <a:rPr lang="fr-FR" dirty="0">
                <a:ea typeface="+mn-lt"/>
                <a:cs typeface="+mn-lt"/>
              </a:rPr>
              <a:t> </a:t>
            </a:r>
            <a:r>
              <a:rPr lang="fr-FR" dirty="0" err="1">
                <a:ea typeface="+mn-lt"/>
                <a:cs typeface="+mn-lt"/>
              </a:rPr>
              <a:t>databases</a:t>
            </a:r>
            <a:r>
              <a:rPr lang="fr-FR" dirty="0">
                <a:ea typeface="+mn-lt"/>
                <a:cs typeface="+mn-lt"/>
              </a:rPr>
              <a:t> have comparable options.</a:t>
            </a:r>
            <a:endParaRPr lang="fr-FR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CC0100C-A457-45B1-8A8B-8740F43EC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4920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alerie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TF10001119</Template>
  <TotalTime>0</TotalTime>
  <Words>1</Words>
  <Application>Microsoft Office PowerPoint</Application>
  <PresentationFormat>Grand écran</PresentationFormat>
  <Paragraphs>1</Paragraphs>
  <Slides>5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Galerie</vt:lpstr>
      <vt:lpstr> RDBMS </vt:lpstr>
      <vt:lpstr>MySQL</vt:lpstr>
      <vt:lpstr>SQL</vt:lpstr>
      <vt:lpstr>PostgreSQL</vt:lpstr>
      <vt:lpstr>MYSQL       vs  PostgreSQL  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/>
  <cp:lastModifiedBy/>
  <cp:revision>80</cp:revision>
  <dcterms:created xsi:type="dcterms:W3CDTF">2022-02-14T17:56:51Z</dcterms:created>
  <dcterms:modified xsi:type="dcterms:W3CDTF">2022-02-14T18:42:42Z</dcterms:modified>
</cp:coreProperties>
</file>